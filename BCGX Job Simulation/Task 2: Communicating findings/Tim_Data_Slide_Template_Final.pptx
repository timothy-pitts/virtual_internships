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Lst>
  <p:notesMasterIdLst>
    <p:notesMasterId r:id="rId6"/>
  </p:notesMasterIdLst>
  <p:handoutMasterIdLst>
    <p:handoutMasterId r:id="rId7"/>
  </p:handoutMasterIdLst>
  <p:sldIdLst>
    <p:sldId id="338" r:id="rId5"/>
  </p:sldIdLst>
  <p:sldSz cx="12192000" cy="6858000"/>
  <p:notesSz cx="6950075" cy="9236075"/>
  <p:custShowLst>
    <p:custShow name="Format Guide Workshop" id="0">
      <p:sldLst/>
    </p:custShow>
  </p:custShowLst>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0782F0-208F-5F22-BC4E-8938E8BAC7FC}" name="Schupe, Laura" initials="SL" userId="Schupe, Laur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6323" autoAdjust="0"/>
  </p:normalViewPr>
  <p:slideViewPr>
    <p:cSldViewPr snapToGrid="0">
      <p:cViewPr>
        <p:scale>
          <a:sx n="70" d="100"/>
          <a:sy n="70" d="100"/>
        </p:scale>
        <p:origin x="460" y="-224"/>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[TimBCGX-VirtualIntership-Updated.xlsx]Campaign-Channel!PivotTable10</c:name>
    <c:fmtId val="47"/>
  </c:pivotSource>
  <c:chart>
    <c:autoTitleDeleted val="1"/>
    <c:pivotFmts>
      <c:pivotFmt>
        <c:idx val="0"/>
        <c:spPr>
          <a:solidFill>
            <a:schemeClr val="accent1"/>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5400">
            <a:solidFill>
              <a:schemeClr val="lt1"/>
            </a:solidFill>
          </a:ln>
          <a:effectLst/>
          <a:sp3d contourW="25400">
            <a:contourClr>
              <a:schemeClr val="lt1"/>
            </a:contourClr>
          </a:sp3d>
        </c:spPr>
      </c:pivotFmt>
      <c:pivotFmt>
        <c:idx val="3"/>
        <c:spPr>
          <a:solidFill>
            <a:schemeClr val="accent1"/>
          </a:solidFill>
          <a:ln w="25400">
            <a:solidFill>
              <a:schemeClr val="lt1"/>
            </a:solidFill>
          </a:ln>
          <a:effectLst/>
          <a:sp3d contourW="25400">
            <a:contourClr>
              <a:schemeClr val="lt1"/>
            </a:contourClr>
          </a:sp3d>
        </c:spPr>
      </c:pivotFmt>
      <c:pivotFmt>
        <c:idx val="4"/>
        <c:spPr>
          <a:solidFill>
            <a:schemeClr val="accent1"/>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5400">
            <a:solidFill>
              <a:schemeClr val="lt1"/>
            </a:solidFill>
          </a:ln>
          <a:effectLst/>
          <a:sp3d contourW="25400">
            <a:contourClr>
              <a:schemeClr val="lt1"/>
            </a:contourClr>
          </a:sp3d>
        </c:spPr>
      </c:pivotFmt>
      <c:pivotFmt>
        <c:idx val="6"/>
        <c:spPr>
          <a:solidFill>
            <a:schemeClr val="accent1"/>
          </a:solidFill>
          <a:ln w="25400">
            <a:solidFill>
              <a:schemeClr val="lt1"/>
            </a:solidFill>
          </a:ln>
          <a:effectLst/>
          <a:sp3d contourW="25400">
            <a:contourClr>
              <a:schemeClr val="lt1"/>
            </a:contourClr>
          </a:sp3d>
        </c:spPr>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'Campaign-Channel'!$B$3</c:f>
              <c:strCache>
                <c:ptCount val="1"/>
                <c:pt idx="0">
                  <c:v>Total</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FBDD-4183-AB78-D1BC9F70CE4C}"/>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FBDD-4183-AB78-D1BC9F70CE4C}"/>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'Campaign-Channel'!$A$4:$A$6</c:f>
              <c:strCache>
                <c:ptCount val="2"/>
                <c:pt idx="0">
                  <c:v>A</c:v>
                </c:pt>
                <c:pt idx="1">
                  <c:v>B</c:v>
                </c:pt>
              </c:strCache>
            </c:strRef>
          </c:cat>
          <c:val>
            <c:numRef>
              <c:f>'Campaign-Channel'!$B$4:$B$6</c:f>
              <c:numCache>
                <c:formatCode>_("$"* #,##0.00_);_("$"* \(#,##0.00\);_("$"* "-"??_);_(@_)</c:formatCode>
                <c:ptCount val="2"/>
                <c:pt idx="0">
                  <c:v>3726.99</c:v>
                </c:pt>
                <c:pt idx="1">
                  <c:v>2117.44</c:v>
                </c:pt>
              </c:numCache>
            </c:numRef>
          </c:val>
          <c:extLst>
            <c:ext xmlns:c16="http://schemas.microsoft.com/office/drawing/2014/chart" uri="{C3380CC4-5D6E-409C-BE32-E72D297353CC}">
              <c16:uniqueId val="{00000004-FBDD-4183-AB78-D1BC9F70CE4C}"/>
            </c:ext>
          </c:extLst>
        </c:ser>
        <c:dLbls>
          <c:dLblPos val="ctr"/>
          <c:showLegendKey val="0"/>
          <c:showVal val="1"/>
          <c:showCatName val="0"/>
          <c:showSerName val="0"/>
          <c:showPercent val="0"/>
          <c:showBubbleSize val="0"/>
          <c:showLeaderLines val="1"/>
        </c:dLbls>
      </c:pie3D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[TimBCGX-VirtualIntership-Updated.xlsx]Campaign-Channel!PivotTable10</c:name>
    <c:fmtId val="5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'Campaign-Channel'!$B$3:$B$4</c:f>
              <c:strCache>
                <c:ptCount val="1"/>
                <c:pt idx="0">
                  <c:v>Email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'Campaign-Channel'!$A$5:$A$7</c:f>
              <c:strCache>
                <c:ptCount val="2"/>
                <c:pt idx="0">
                  <c:v>A</c:v>
                </c:pt>
                <c:pt idx="1">
                  <c:v>B</c:v>
                </c:pt>
              </c:strCache>
            </c:strRef>
          </c:cat>
          <c:val>
            <c:numRef>
              <c:f>'Campaign-Channel'!$B$5:$B$7</c:f>
              <c:numCache>
                <c:formatCode>_("$"* #,##0.00_);_("$"* \(#,##0.00\);_("$"* "-"??_);_(@_)</c:formatCode>
                <c:ptCount val="2"/>
                <c:pt idx="0">
                  <c:v>2124.4699999999998</c:v>
                </c:pt>
                <c:pt idx="1">
                  <c:v>1382.38</c:v>
                </c:pt>
              </c:numCache>
            </c:numRef>
          </c:val>
          <c:extLst>
            <c:ext xmlns:c16="http://schemas.microsoft.com/office/drawing/2014/chart" uri="{C3380CC4-5D6E-409C-BE32-E72D297353CC}">
              <c16:uniqueId val="{00000000-6BD5-4DA1-9235-B1F49491E775}"/>
            </c:ext>
          </c:extLst>
        </c:ser>
        <c:ser>
          <c:idx val="1"/>
          <c:order val="1"/>
          <c:tx>
            <c:strRef>
              <c:f>'Campaign-Channel'!$C$3:$C$4</c:f>
              <c:strCache>
                <c:ptCount val="1"/>
                <c:pt idx="0">
                  <c:v>Instagram</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'Campaign-Channel'!$A$5:$A$7</c:f>
              <c:strCache>
                <c:ptCount val="2"/>
                <c:pt idx="0">
                  <c:v>A</c:v>
                </c:pt>
                <c:pt idx="1">
                  <c:v>B</c:v>
                </c:pt>
              </c:strCache>
            </c:strRef>
          </c:cat>
          <c:val>
            <c:numRef>
              <c:f>'Campaign-Channel'!$C$5:$C$7</c:f>
              <c:numCache>
                <c:formatCode>_("$"* #,##0.00_);_("$"* \(#,##0.00\);_("$"* "-"??_);_(@_)</c:formatCode>
                <c:ptCount val="2"/>
                <c:pt idx="0">
                  <c:v>969.46</c:v>
                </c:pt>
                <c:pt idx="1">
                  <c:v>416.14</c:v>
                </c:pt>
              </c:numCache>
            </c:numRef>
          </c:val>
          <c:extLst>
            <c:ext xmlns:c16="http://schemas.microsoft.com/office/drawing/2014/chart" uri="{C3380CC4-5D6E-409C-BE32-E72D297353CC}">
              <c16:uniqueId val="{00000001-6BD5-4DA1-9235-B1F49491E775}"/>
            </c:ext>
          </c:extLst>
        </c:ser>
        <c:ser>
          <c:idx val="2"/>
          <c:order val="2"/>
          <c:tx>
            <c:strRef>
              <c:f>'Campaign-Channel'!$D$3:$D$4</c:f>
              <c:strCache>
                <c:ptCount val="1"/>
                <c:pt idx="0">
                  <c:v>Web Banner</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'Campaign-Channel'!$A$5:$A$7</c:f>
              <c:strCache>
                <c:ptCount val="2"/>
                <c:pt idx="0">
                  <c:v>A</c:v>
                </c:pt>
                <c:pt idx="1">
                  <c:v>B</c:v>
                </c:pt>
              </c:strCache>
            </c:strRef>
          </c:cat>
          <c:val>
            <c:numRef>
              <c:f>'Campaign-Channel'!$D$5:$D$7</c:f>
              <c:numCache>
                <c:formatCode>_("$"* #,##0.00_);_("$"* \(#,##0.00\);_("$"* "-"??_);_(@_)</c:formatCode>
                <c:ptCount val="2"/>
                <c:pt idx="0">
                  <c:v>633.05999999999995</c:v>
                </c:pt>
                <c:pt idx="1">
                  <c:v>318.92</c:v>
                </c:pt>
              </c:numCache>
            </c:numRef>
          </c:val>
          <c:extLst>
            <c:ext xmlns:c16="http://schemas.microsoft.com/office/drawing/2014/chart" uri="{C3380CC4-5D6E-409C-BE32-E72D297353CC}">
              <c16:uniqueId val="{00000002-6BD5-4DA1-9235-B1F49491E775}"/>
            </c:ext>
          </c:extLst>
        </c:ser>
        <c:dLbls>
          <c:dLblPos val="ctr"/>
          <c:showLegendKey val="0"/>
          <c:showVal val="1"/>
          <c:showCatName val="0"/>
          <c:showSerName val="0"/>
          <c:showPercent val="0"/>
          <c:showBubbleSize val="0"/>
        </c:dLbls>
        <c:gapWidth val="150"/>
        <c:overlap val="100"/>
        <c:axId val="995173984"/>
        <c:axId val="995177824"/>
      </c:barChart>
      <c:catAx>
        <c:axId val="99517398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95177824"/>
        <c:crosses val="autoZero"/>
        <c:auto val="1"/>
        <c:lblAlgn val="ctr"/>
        <c:lblOffset val="100"/>
        <c:noMultiLvlLbl val="0"/>
      </c:catAx>
      <c:valAx>
        <c:axId val="995177824"/>
        <c:scaling>
          <c:orientation val="minMax"/>
        </c:scaling>
        <c:delete val="0"/>
        <c:axPos val="l"/>
        <c:majorGridlines>
          <c:spPr>
            <a:ln w="9525" cap="flat" cmpd="sng" algn="ctr">
              <a:solidFill>
                <a:schemeClr val="tx1">
                  <a:lumMod val="15000"/>
                  <a:lumOff val="85000"/>
                </a:schemeClr>
              </a:solidFill>
              <a:round/>
            </a:ln>
            <a:effectLst/>
          </c:spPr>
        </c:majorGridlines>
        <c:numFmt formatCode="_(&quot;$&quot;* #,##0.00_);_(&quot;$&quot;* \(#,##0.00\);_(&quot;$&quot;* &quot;-&quot;??_);_(@_)"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9517398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[Chart in Microsoft PowerPoint]Sheet2!PivotTable6</c:name>
    <c:fmtId val="-1"/>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Sheet2!$B$3:$B$4</c:f>
              <c:strCache>
                <c:ptCount val="1"/>
                <c:pt idx="0">
                  <c:v>0</c:v>
                </c:pt>
              </c:strCache>
            </c:strRef>
          </c:tx>
          <c:spPr>
            <a:solidFill>
              <a:srgbClr val="C0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Sheet2!$A$5:$A$9</c:f>
              <c:multiLvlStrCache>
                <c:ptCount val="2"/>
                <c:lvl>
                  <c:pt idx="0">
                    <c:v>New</c:v>
                  </c:pt>
                  <c:pt idx="1">
                    <c:v>New</c:v>
                  </c:pt>
                </c:lvl>
                <c:lvl>
                  <c:pt idx="0">
                    <c:v>A</c:v>
                  </c:pt>
                  <c:pt idx="1">
                    <c:v>B</c:v>
                  </c:pt>
                </c:lvl>
              </c:multiLvlStrCache>
            </c:multiLvlStrRef>
          </c:cat>
          <c:val>
            <c:numRef>
              <c:f>Sheet2!$B$5:$B$9</c:f>
              <c:numCache>
                <c:formatCode>General</c:formatCode>
                <c:ptCount val="2"/>
                <c:pt idx="0">
                  <c:v>79</c:v>
                </c:pt>
                <c:pt idx="1">
                  <c:v>41</c:v>
                </c:pt>
              </c:numCache>
            </c:numRef>
          </c:val>
          <c:extLst>
            <c:ext xmlns:c16="http://schemas.microsoft.com/office/drawing/2014/chart" uri="{C3380CC4-5D6E-409C-BE32-E72D297353CC}">
              <c16:uniqueId val="{00000000-88E1-4847-B72C-5D941D21B901}"/>
            </c:ext>
          </c:extLst>
        </c:ser>
        <c:ser>
          <c:idx val="1"/>
          <c:order val="1"/>
          <c:tx>
            <c:strRef>
              <c:f>Sheet2!$C$3:$C$4</c:f>
              <c:strCache>
                <c:ptCount val="1"/>
                <c:pt idx="0">
                  <c:v>1</c:v>
                </c:pt>
              </c:strCache>
            </c:strRef>
          </c:tx>
          <c:spPr>
            <a:solidFill>
              <a:srgbClr val="197A5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Sheet2!$A$5:$A$9</c:f>
              <c:multiLvlStrCache>
                <c:ptCount val="2"/>
                <c:lvl>
                  <c:pt idx="0">
                    <c:v>New</c:v>
                  </c:pt>
                  <c:pt idx="1">
                    <c:v>New</c:v>
                  </c:pt>
                </c:lvl>
                <c:lvl>
                  <c:pt idx="0">
                    <c:v>A</c:v>
                  </c:pt>
                  <c:pt idx="1">
                    <c:v>B</c:v>
                  </c:pt>
                </c:lvl>
              </c:multiLvlStrCache>
            </c:multiLvlStrRef>
          </c:cat>
          <c:val>
            <c:numRef>
              <c:f>Sheet2!$C$5:$C$9</c:f>
              <c:numCache>
                <c:formatCode>General</c:formatCode>
                <c:ptCount val="2"/>
                <c:pt idx="0">
                  <c:v>59</c:v>
                </c:pt>
                <c:pt idx="1">
                  <c:v>34</c:v>
                </c:pt>
              </c:numCache>
            </c:numRef>
          </c:val>
          <c:extLst>
            <c:ext xmlns:c16="http://schemas.microsoft.com/office/drawing/2014/chart" uri="{C3380CC4-5D6E-409C-BE32-E72D297353CC}">
              <c16:uniqueId val="{00000001-88E1-4847-B72C-5D941D21B901}"/>
            </c:ext>
          </c:extLst>
        </c:ser>
        <c:dLbls>
          <c:dLblPos val="ctr"/>
          <c:showLegendKey val="0"/>
          <c:showVal val="1"/>
          <c:showCatName val="0"/>
          <c:showSerName val="0"/>
          <c:showPercent val="0"/>
          <c:showBubbleSize val="0"/>
        </c:dLbls>
        <c:gapWidth val="219"/>
        <c:overlap val="-27"/>
        <c:axId val="1163900448"/>
        <c:axId val="1163900928"/>
      </c:barChart>
      <c:catAx>
        <c:axId val="11639004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63900928"/>
        <c:crosses val="autoZero"/>
        <c:auto val="1"/>
        <c:lblAlgn val="ctr"/>
        <c:lblOffset val="100"/>
        <c:noMultiLvlLbl val="0"/>
      </c:catAx>
      <c:valAx>
        <c:axId val="11639009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63900448"/>
        <c:crosses val="autoZero"/>
        <c:crossBetween val="between"/>
      </c:valAx>
      <c:spPr>
        <a:noFill/>
        <a:ln>
          <a:noFill/>
        </a:ln>
        <a:effectLst/>
      </c:spPr>
    </c:plotArea>
    <c:legend>
      <c:legendPos val="r"/>
      <c:legendEntry>
        <c:idx val="0"/>
        <c:txPr>
          <a:bodyPr rot="0" spcFirstLastPara="1" vertOverflow="ellipsis" vert="horz" wrap="square" anchor="ctr" anchorCtr="1"/>
          <a:lstStyle/>
          <a:p>
            <a:pPr>
              <a:defRPr sz="900" b="0" i="0" u="none" strike="noStrike" kern="1200" baseline="0">
                <a:noFill/>
                <a:latin typeface="+mn-lt"/>
                <a:ea typeface="+mn-ea"/>
                <a:cs typeface="+mn-cs"/>
              </a:defRPr>
            </a:pPr>
            <a:endParaRPr lang="en-US"/>
          </a:p>
        </c:txPr>
      </c:legendEntry>
      <c:legendEntry>
        <c:idx val="1"/>
        <c:txPr>
          <a:bodyPr rot="0" spcFirstLastPara="1" vertOverflow="ellipsis" vert="horz" wrap="square" anchor="ctr" anchorCtr="1"/>
          <a:lstStyle/>
          <a:p>
            <a:pPr>
              <a:defRPr sz="900" b="0" i="0" u="none" strike="noStrike" kern="1200" baseline="0">
                <a:noFill/>
                <a:latin typeface="+mn-lt"/>
                <a:ea typeface="+mn-ea"/>
                <a:cs typeface="+mn-cs"/>
              </a:defRPr>
            </a:pPr>
            <a:endParaRPr lang="en-US"/>
          </a:p>
        </c:txPr>
      </c:legendEntry>
      <c:layout>
        <c:manualLayout>
          <c:xMode val="edge"/>
          <c:yMode val="edge"/>
          <c:x val="0.87986629890107337"/>
          <c:y val="0.44417867174586367"/>
          <c:w val="6.5595333395138428E-2"/>
          <c:h val="0.1266533146665358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12/5/2025</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12/5/2025</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5.xml"/><Relationship Id="rId7" Type="http://schemas.openxmlformats.org/officeDocument/2006/relationships/image" Target="../media/image2.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6.xml"/><Relationship Id="rId9"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6.xml"/><Relationship Id="rId5" Type="http://schemas.openxmlformats.org/officeDocument/2006/relationships/image" Target="../media/image9.png"/><Relationship Id="rId4"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4.jp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7.xml"/><Relationship Id="rId7" Type="http://schemas.openxmlformats.org/officeDocument/2006/relationships/image" Target="../media/image2.emf"/><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38.xml"/><Relationship Id="rId9"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5.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7.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8.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9.xml"/><Relationship Id="rId5" Type="http://schemas.openxmlformats.org/officeDocument/2006/relationships/image" Target="../media/image9.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4.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67.xml"/><Relationship Id="rId7" Type="http://schemas.openxmlformats.org/officeDocument/2006/relationships/image" Target="../media/image4.jp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8.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71.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72.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77.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78.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81.xml"/><Relationship Id="rId5" Type="http://schemas.openxmlformats.org/officeDocument/2006/relationships/image" Target="../media/image5.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0" name=""/>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tags" Target="../tags/tag84.xml"/><Relationship Id="rId7" Type="http://schemas.openxmlformats.org/officeDocument/2006/relationships/oleObject" Target="../embeddings/oleObject17.bin"/><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0.emf"/><Relationship Id="rId11" Type="http://schemas.openxmlformats.org/officeDocument/2006/relationships/chart" Target="../charts/chart3.xml"/><Relationship Id="rId5" Type="http://schemas.openxmlformats.org/officeDocument/2006/relationships/oleObject" Target="../embeddings/oleObject16.bin"/><Relationship Id="rId10" Type="http://schemas.openxmlformats.org/officeDocument/2006/relationships/chart" Target="../charts/chart2.xml"/><Relationship Id="rId4" Type="http://schemas.openxmlformats.org/officeDocument/2006/relationships/slideLayout" Target="../slideLayouts/slideLayout2.xml"/><Relationship Id="rId9"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DB88079-4CFC-3A07-EAC6-F42F83D9F7F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A3175F1-F880-FD13-5347-0D98BDB0DD10}"/>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50" name="Rectangle 49">
            <a:extLst>
              <a:ext uri="{FF2B5EF4-FFF2-40B4-BE49-F238E27FC236}">
                <a16:creationId xmlns:a16="http://schemas.microsoft.com/office/drawing/2014/main" id="{E9B0969E-E6A1-262E-0D0C-27C4EB66645E}"/>
              </a:ext>
            </a:extLst>
          </p:cNvPr>
          <p:cNvSpPr/>
          <p:nvPr/>
        </p:nvSpPr>
        <p:spPr>
          <a:xfrm>
            <a:off x="213359" y="1710132"/>
            <a:ext cx="3799841" cy="3292842"/>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graphicFrame>
        <p:nvGraphicFramePr>
          <p:cNvPr id="4" name="Object 3" hidden="1">
            <a:extLst>
              <a:ext uri="{FF2B5EF4-FFF2-40B4-BE49-F238E27FC236}">
                <a16:creationId xmlns:a16="http://schemas.microsoft.com/office/drawing/2014/main" id="{2F3865D3-5602-FB72-4DDC-D8D544E43DC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204233E-D808-43F8-E8D2-630EBED07FDB}"/>
              </a:ext>
            </a:extLst>
          </p:cNvPr>
          <p:cNvSpPr>
            <a:spLocks noGrp="1"/>
          </p:cNvSpPr>
          <p:nvPr>
            <p:ph type="title"/>
          </p:nvPr>
        </p:nvSpPr>
        <p:spPr>
          <a:xfrm>
            <a:off x="630000" y="622800"/>
            <a:ext cx="10933200" cy="387798"/>
          </a:xfrm>
        </p:spPr>
        <p:txBody>
          <a:bodyPr anchor="t"/>
          <a:lstStyle/>
          <a:p>
            <a:pPr algn="ctr"/>
            <a:r>
              <a:rPr lang="en-US" sz="2800" dirty="0"/>
              <a:t>New Customer Comparisons</a:t>
            </a:r>
          </a:p>
        </p:txBody>
      </p:sp>
      <p:sp>
        <p:nvSpPr>
          <p:cNvPr id="8" name="Rectangle 7">
            <a:extLst>
              <a:ext uri="{FF2B5EF4-FFF2-40B4-BE49-F238E27FC236}">
                <a16:creationId xmlns:a16="http://schemas.microsoft.com/office/drawing/2014/main" id="{942B0D30-68D6-1748-728E-7FA73A5976EC}"/>
              </a:ext>
            </a:extLst>
          </p:cNvPr>
          <p:cNvSpPr/>
          <p:nvPr/>
        </p:nvSpPr>
        <p:spPr>
          <a:xfrm>
            <a:off x="8864551" y="1377730"/>
            <a:ext cx="2565148" cy="307777"/>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dirty="0">
                <a:solidFill>
                  <a:srgbClr val="21BF61"/>
                </a:solidFill>
              </a:rPr>
              <a:t>Best Advertising Method</a:t>
            </a:r>
          </a:p>
        </p:txBody>
      </p:sp>
      <p:graphicFrame>
        <p:nvGraphicFramePr>
          <p:cNvPr id="17" name="Object 16" hidden="1">
            <a:extLst>
              <a:ext uri="{FF2B5EF4-FFF2-40B4-BE49-F238E27FC236}">
                <a16:creationId xmlns:a16="http://schemas.microsoft.com/office/drawing/2014/main" id="{C2F07A64-3882-0D42-C3A9-A3E2E5ACA011}"/>
              </a:ext>
            </a:extLst>
          </p:cNvPr>
          <p:cNvGraphicFramePr>
            <a:graphicFrameLocks noChangeAspect="1"/>
          </p:cNvGraphicFramePr>
          <p:nvPr>
            <p:custDataLst>
              <p:tags r:id="rId2"/>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8"/>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F3373025-70F2-206E-C2A9-CF622E9D0E06}"/>
              </a:ext>
            </a:extLst>
          </p:cNvPr>
          <p:cNvSpPr/>
          <p:nvPr>
            <p:custDataLst>
              <p:tags r:id="rId3"/>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1" name="Rectangle 50">
            <a:extLst>
              <a:ext uri="{FF2B5EF4-FFF2-40B4-BE49-F238E27FC236}">
                <a16:creationId xmlns:a16="http://schemas.microsoft.com/office/drawing/2014/main" id="{BF4368DF-6E20-14F0-6E67-1E1CD9E7A1F1}"/>
              </a:ext>
            </a:extLst>
          </p:cNvPr>
          <p:cNvSpPr/>
          <p:nvPr/>
        </p:nvSpPr>
        <p:spPr>
          <a:xfrm>
            <a:off x="4178308" y="1715987"/>
            <a:ext cx="3787899" cy="3286988"/>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2" name="Rectangle 51">
            <a:extLst>
              <a:ext uri="{FF2B5EF4-FFF2-40B4-BE49-F238E27FC236}">
                <a16:creationId xmlns:a16="http://schemas.microsoft.com/office/drawing/2014/main" id="{E2B2A643-298F-D571-396A-2AD97701D1C3}"/>
              </a:ext>
            </a:extLst>
          </p:cNvPr>
          <p:cNvSpPr/>
          <p:nvPr/>
        </p:nvSpPr>
        <p:spPr>
          <a:xfrm>
            <a:off x="8039682" y="1730868"/>
            <a:ext cx="4055337" cy="3272106"/>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3" name="Rectangle 52">
            <a:extLst>
              <a:ext uri="{FF2B5EF4-FFF2-40B4-BE49-F238E27FC236}">
                <a16:creationId xmlns:a16="http://schemas.microsoft.com/office/drawing/2014/main" id="{B52E5477-8A78-817E-6DEC-CF5CD1757B04}"/>
              </a:ext>
            </a:extLst>
          </p:cNvPr>
          <p:cNvSpPr/>
          <p:nvPr/>
        </p:nvSpPr>
        <p:spPr>
          <a:xfrm>
            <a:off x="4649609" y="1168634"/>
            <a:ext cx="2813955" cy="523220"/>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dirty="0">
                <a:solidFill>
                  <a:srgbClr val="21BF61"/>
                </a:solidFill>
              </a:rPr>
              <a:t>Campaign Comparison Total Sales for New Customers</a:t>
            </a:r>
          </a:p>
        </p:txBody>
      </p:sp>
      <p:sp>
        <p:nvSpPr>
          <p:cNvPr id="54" name="Rectangle 53">
            <a:extLst>
              <a:ext uri="{FF2B5EF4-FFF2-40B4-BE49-F238E27FC236}">
                <a16:creationId xmlns:a16="http://schemas.microsoft.com/office/drawing/2014/main" id="{AC2F7AF7-DC76-6C1A-0458-2264EDF24BF9}"/>
              </a:ext>
            </a:extLst>
          </p:cNvPr>
          <p:cNvSpPr/>
          <p:nvPr/>
        </p:nvSpPr>
        <p:spPr>
          <a:xfrm>
            <a:off x="770195" y="1321434"/>
            <a:ext cx="2478427" cy="307777"/>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dirty="0">
                <a:solidFill>
                  <a:srgbClr val="21BF61"/>
                </a:solidFill>
              </a:rPr>
              <a:t>New Customer Conversion</a:t>
            </a:r>
          </a:p>
        </p:txBody>
      </p:sp>
      <p:sp>
        <p:nvSpPr>
          <p:cNvPr id="6" name="Rectangle 5">
            <a:extLst>
              <a:ext uri="{FF2B5EF4-FFF2-40B4-BE49-F238E27FC236}">
                <a16:creationId xmlns:a16="http://schemas.microsoft.com/office/drawing/2014/main" id="{481B1DE6-2CDC-940C-8490-377786C3D307}"/>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aphicFrame>
        <p:nvGraphicFramePr>
          <p:cNvPr id="10" name="Chart 9">
            <a:extLst>
              <a:ext uri="{FF2B5EF4-FFF2-40B4-BE49-F238E27FC236}">
                <a16:creationId xmlns:a16="http://schemas.microsoft.com/office/drawing/2014/main" id="{9102B1A0-B522-E62F-423E-B9D63BD505CD}"/>
              </a:ext>
            </a:extLst>
          </p:cNvPr>
          <p:cNvGraphicFramePr>
            <a:graphicFrameLocks/>
          </p:cNvGraphicFramePr>
          <p:nvPr>
            <p:extLst>
              <p:ext uri="{D42A27DB-BD31-4B8C-83A1-F6EECF244321}">
                <p14:modId xmlns:p14="http://schemas.microsoft.com/office/powerpoint/2010/main" val="2831812802"/>
              </p:ext>
            </p:extLst>
          </p:nvPr>
        </p:nvGraphicFramePr>
        <p:xfrm>
          <a:off x="4055661" y="1891324"/>
          <a:ext cx="4013200" cy="3680120"/>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11" name="Chart 10">
            <a:extLst>
              <a:ext uri="{FF2B5EF4-FFF2-40B4-BE49-F238E27FC236}">
                <a16:creationId xmlns:a16="http://schemas.microsoft.com/office/drawing/2014/main" id="{06E381B4-E7A2-4C2E-010B-335B3F5F4F1E}"/>
              </a:ext>
            </a:extLst>
          </p:cNvPr>
          <p:cNvGraphicFramePr>
            <a:graphicFrameLocks/>
          </p:cNvGraphicFramePr>
          <p:nvPr>
            <p:extLst>
              <p:ext uri="{D42A27DB-BD31-4B8C-83A1-F6EECF244321}">
                <p14:modId xmlns:p14="http://schemas.microsoft.com/office/powerpoint/2010/main" val="2827906867"/>
              </p:ext>
            </p:extLst>
          </p:nvPr>
        </p:nvGraphicFramePr>
        <p:xfrm>
          <a:off x="8008668" y="1900629"/>
          <a:ext cx="4086351" cy="3102345"/>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12" name="Chart 11">
            <a:extLst>
              <a:ext uri="{FF2B5EF4-FFF2-40B4-BE49-F238E27FC236}">
                <a16:creationId xmlns:a16="http://schemas.microsoft.com/office/drawing/2014/main" id="{DDF93E02-BDA9-7351-3FEB-9297CD04BB38}"/>
              </a:ext>
            </a:extLst>
          </p:cNvPr>
          <p:cNvGraphicFramePr>
            <a:graphicFrameLocks/>
          </p:cNvGraphicFramePr>
          <p:nvPr>
            <p:extLst>
              <p:ext uri="{D42A27DB-BD31-4B8C-83A1-F6EECF244321}">
                <p14:modId xmlns:p14="http://schemas.microsoft.com/office/powerpoint/2010/main" val="2575074977"/>
              </p:ext>
            </p:extLst>
          </p:nvPr>
        </p:nvGraphicFramePr>
        <p:xfrm>
          <a:off x="213360" y="1776555"/>
          <a:ext cx="3842302" cy="3298366"/>
        </p:xfrm>
        <a:graphic>
          <a:graphicData uri="http://schemas.openxmlformats.org/drawingml/2006/chart">
            <c:chart xmlns:c="http://schemas.openxmlformats.org/drawingml/2006/chart" xmlns:r="http://schemas.openxmlformats.org/officeDocument/2006/relationships" r:id="rId11"/>
          </a:graphicData>
        </a:graphic>
      </p:graphicFrame>
      <p:sp>
        <p:nvSpPr>
          <p:cNvPr id="2" name="Rectangle 1">
            <a:extLst>
              <a:ext uri="{FF2B5EF4-FFF2-40B4-BE49-F238E27FC236}">
                <a16:creationId xmlns:a16="http://schemas.microsoft.com/office/drawing/2014/main" id="{477E036F-AF50-32A5-AA87-4A97F3F6A88D}"/>
              </a:ext>
            </a:extLst>
          </p:cNvPr>
          <p:cNvSpPr/>
          <p:nvPr/>
        </p:nvSpPr>
        <p:spPr>
          <a:xfrm>
            <a:off x="213360" y="5048335"/>
            <a:ext cx="11881660" cy="1616148"/>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b="1" dirty="0">
                <a:solidFill>
                  <a:srgbClr val="000000"/>
                </a:solidFill>
              </a:rPr>
              <a:t>Recommendation: </a:t>
            </a:r>
            <a:r>
              <a:rPr lang="en-US" sz="1600" b="1" u="sng" dirty="0">
                <a:solidFill>
                  <a:srgbClr val="000000"/>
                </a:solidFill>
              </a:rPr>
              <a:t>Overall recommendation is to double down &amp; increase spending on Campaign A using emails to increase rate of new customers.</a:t>
            </a:r>
            <a:endParaRPr lang="en-US" sz="1600" u="sng" dirty="0">
              <a:solidFill>
                <a:srgbClr val="000000"/>
              </a:solidFill>
            </a:endParaRPr>
          </a:p>
          <a:p>
            <a:endParaRPr lang="en-US" sz="1600" b="1" dirty="0">
              <a:solidFill>
                <a:srgbClr val="000000"/>
              </a:solidFill>
            </a:endParaRPr>
          </a:p>
          <a:p>
            <a:r>
              <a:rPr lang="en-US" sz="1600" b="1" dirty="0">
                <a:solidFill>
                  <a:srgbClr val="000000"/>
                </a:solidFill>
              </a:rPr>
              <a:t>Campaign A has overall more users saying yes &amp; becoming customers vs Campaign B. Campaign A has more overall sales for new customers than Campaign B. The advertising strategy that generated the most money was using Campaign A’s informal advertising with emails.</a:t>
            </a:r>
          </a:p>
        </p:txBody>
      </p:sp>
      <p:sp>
        <p:nvSpPr>
          <p:cNvPr id="13" name="TextBox 12">
            <a:extLst>
              <a:ext uri="{FF2B5EF4-FFF2-40B4-BE49-F238E27FC236}">
                <a16:creationId xmlns:a16="http://schemas.microsoft.com/office/drawing/2014/main" id="{59FED1B4-A89C-F59B-983B-F4B8F1D2F160}"/>
              </a:ext>
            </a:extLst>
          </p:cNvPr>
          <p:cNvSpPr txBox="1"/>
          <p:nvPr/>
        </p:nvSpPr>
        <p:spPr>
          <a:xfrm>
            <a:off x="3578063" y="3399386"/>
            <a:ext cx="557784" cy="368652"/>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dirty="0">
                <a:solidFill>
                  <a:srgbClr val="575757"/>
                </a:solidFill>
              </a:rPr>
              <a:t>No</a:t>
            </a:r>
          </a:p>
          <a:p>
            <a:pPr algn="ctr"/>
            <a:endParaRPr lang="en-US" sz="900" dirty="0">
              <a:solidFill>
                <a:srgbClr val="575757"/>
              </a:solidFill>
            </a:endParaRPr>
          </a:p>
          <a:p>
            <a:pPr algn="ctr"/>
            <a:r>
              <a:rPr lang="en-US" sz="900" dirty="0">
                <a:solidFill>
                  <a:srgbClr val="575757"/>
                </a:solidFill>
              </a:rPr>
              <a:t>Yes</a:t>
            </a:r>
          </a:p>
          <a:p>
            <a:pPr algn="ctr"/>
            <a:endParaRPr lang="en-US" sz="1000" dirty="0" err="1">
              <a:solidFill>
                <a:srgbClr val="575757"/>
              </a:solidFill>
            </a:endParaRPr>
          </a:p>
        </p:txBody>
      </p:sp>
    </p:spTree>
    <p:extLst>
      <p:ext uri="{BB962C8B-B14F-4D97-AF65-F5344CB8AC3E}">
        <p14:creationId xmlns:p14="http://schemas.microsoft.com/office/powerpoint/2010/main" val="1463983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7.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1" id="{9F202C15-0297-4FD9-95CD-005C6172BBB7}" vid="{593C2B70-5186-41B3-84B4-3F94B52F9FF3}"/>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317974F467E37438C146AD78195A289" ma:contentTypeVersion="27" ma:contentTypeDescription="Create a new document." ma:contentTypeScope="" ma:versionID="e03602932086b18a40c6e416cb2a7f69">
  <xsd:schema xmlns:xsd="http://www.w3.org/2001/XMLSchema" xmlns:xs="http://www.w3.org/2001/XMLSchema" xmlns:p="http://schemas.microsoft.com/office/2006/metadata/properties" xmlns:ns1="http://schemas.microsoft.com/sharepoint/v3" xmlns:ns2="0991f213-3730-40e2-91ec-6de05b6aabb5" xmlns:ns3="36d2b8e5-71dc-415e-89f3-3c8649eed760" targetNamespace="http://schemas.microsoft.com/office/2006/metadata/properties" ma:root="true" ma:fieldsID="3833a751b348f4aa5ccc35fecd3b1d1f" ns1:_="" ns2:_="" ns3:_="">
    <xsd:import namespace="http://schemas.microsoft.com/sharepoint/v3"/>
    <xsd:import namespace="0991f213-3730-40e2-91ec-6de05b6aabb5"/>
    <xsd:import namespace="36d2b8e5-71dc-415e-89f3-3c8649eed76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Reader" minOccurs="0"/>
                <xsd:element ref="ns2:Level" minOccurs="0"/>
                <xsd:element ref="ns2:Region" minOccurs="0"/>
                <xsd:element ref="ns2:Insights" minOccurs="0"/>
                <xsd:element ref="ns2:Rec_x002f_Can" minOccurs="0"/>
                <xsd:element ref="ns1:_ip_UnifiedCompliancePolicyProperties" minOccurs="0"/>
                <xsd:element ref="ns1:_ip_UnifiedCompliancePolicyUIAction" minOccurs="0"/>
                <xsd:element ref="ns2:_Flow_SignoffStatu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1f213-3730-40e2-91ec-6de05b6aa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Reader" ma:index="23" nillable="true" ma:displayName="Reader" ma:description="Who from Design team has / wants to read this item" ma:format="Dropdown" ma:internalName="Reader">
      <xsd:simpleType>
        <xsd:restriction base="dms:Text">
          <xsd:maxLength value="255"/>
        </xsd:restriction>
      </xsd:simpleType>
    </xsd:element>
    <xsd:element name="Level" ma:index="24" nillable="true" ma:displayName="Level" ma:format="Dropdown" ma:internalName="Level">
      <xsd:simpleType>
        <xsd:restriction base="dms:Choice">
          <xsd:enumeration value="Campus"/>
          <xsd:enumeration value="Industry"/>
          <xsd:enumeration value="Exec"/>
          <xsd:enumeration value="other"/>
        </xsd:restriction>
      </xsd:simpleType>
    </xsd:element>
    <xsd:element name="Region" ma:index="25" nillable="true" ma:displayName="Region" ma:format="Dropdown" ma:internalName="Region">
      <xsd:simpleType>
        <xsd:restriction base="dms:Choice">
          <xsd:enumeration value="NAMR"/>
          <xsd:enumeration value="EMESA"/>
          <xsd:enumeration value="APAC"/>
          <xsd:enumeration value="Global"/>
        </xsd:restriction>
      </xsd:simpleType>
    </xsd:element>
    <xsd:element name="Insights" ma:index="26" nillable="true" ma:displayName="Insights" ma:description="A space to capture insights and highlights from the interview, to help us find sources if needed later." ma:format="Dropdown" ma:internalName="Insights">
      <xsd:simpleType>
        <xsd:restriction base="dms:Note">
          <xsd:maxLength value="255"/>
        </xsd:restriction>
      </xsd:simpleType>
    </xsd:element>
    <xsd:element name="Rec_x002f_Can" ma:index="27" nillable="true" ma:displayName="Rec / Can" ma:format="Dropdown" ma:internalName="Rec_x002f_Can">
      <xsd:simpleType>
        <xsd:restriction base="dms:Choice">
          <xsd:enumeration value="Recruiter"/>
          <xsd:enumeration value="Candidate"/>
        </xsd:restriction>
      </xsd:simpleType>
    </xsd:element>
    <xsd:element name="_Flow_SignoffStatus" ma:index="30" nillable="true" ma:displayName="Sign-off status" ma:internalName="Sign_x002d_off_x0020_status">
      <xsd:simpleType>
        <xsd:restriction base="dms:Text"/>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d2b8e5-71dc-415e-89f3-3c8649eed7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f2f81cf-8db6-41f8-8a1e-7000546bd34b}" ma:internalName="TaxCatchAll" ma:showField="CatchAllData" ma:web="36d2b8e5-71dc-415e-89f3-3c8649eed76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Reader xmlns="0991f213-3730-40e2-91ec-6de05b6aabb5" xsi:nil="true"/>
    <Region xmlns="0991f213-3730-40e2-91ec-6de05b6aabb5" xsi:nil="true"/>
    <Rec_x002f_Can xmlns="0991f213-3730-40e2-91ec-6de05b6aabb5" xsi:nil="true"/>
    <_ip_UnifiedCompliancePolicyProperties xmlns="http://schemas.microsoft.com/sharepoint/v3" xsi:nil="true"/>
    <TaxCatchAll xmlns="36d2b8e5-71dc-415e-89f3-3c8649eed760" xsi:nil="true"/>
    <lcf76f155ced4ddcb4097134ff3c332f xmlns="0991f213-3730-40e2-91ec-6de05b6aabb5">
      <Terms xmlns="http://schemas.microsoft.com/office/infopath/2007/PartnerControls"/>
    </lcf76f155ced4ddcb4097134ff3c332f>
    <Level xmlns="0991f213-3730-40e2-91ec-6de05b6aabb5" xsi:nil="true"/>
    <_Flow_SignoffStatus xmlns="0991f213-3730-40e2-91ec-6de05b6aabb5" xsi:nil="true"/>
    <Insights xmlns="0991f213-3730-40e2-91ec-6de05b6aabb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AFEDB00-AE08-4CC7-908B-138CC2F88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991f213-3730-40e2-91ec-6de05b6aabb5"/>
    <ds:schemaRef ds:uri="36d2b8e5-71dc-415e-89f3-3c8649eed7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416FAC-37CA-4AF3-9A4A-9E56DF196B4D}">
  <ds:schemaRefs>
    <ds:schemaRef ds:uri="http://schemas.microsoft.com/office/2006/metadata/properties"/>
    <ds:schemaRef ds:uri="http://schemas.microsoft.com/office/infopath/2007/PartnerControls"/>
    <ds:schemaRef ds:uri="http://schemas.microsoft.com/sharepoint/v3"/>
    <ds:schemaRef ds:uri="0991f213-3730-40e2-91ec-6de05b6aabb5"/>
    <ds:schemaRef ds:uri="36d2b8e5-71dc-415e-89f3-3c8649eed760"/>
  </ds:schemaRefs>
</ds:datastoreItem>
</file>

<file path=customXml/itemProps3.xml><?xml version="1.0" encoding="utf-8"?>
<ds:datastoreItem xmlns:ds="http://schemas.openxmlformats.org/officeDocument/2006/customXml" ds:itemID="{F0D9CDD6-302A-4910-894A-79BA7510E5E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BCG Grid 16:9</Template>
  <TotalTime>185</TotalTime>
  <Words>86</Words>
  <Application>Microsoft Office PowerPoint</Application>
  <PresentationFormat>Widescreen</PresentationFormat>
  <Paragraphs>10</Paragraphs>
  <Slides>1</Slides>
  <Notes>0</Notes>
  <HiddenSlides>0</HiddenSlides>
  <MMClips>0</MMClips>
  <ScaleCrop>false</ScaleCrop>
  <HeadingPairs>
    <vt:vector size="10"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1</vt:i4>
      </vt:variant>
      <vt:variant>
        <vt:lpstr>Custom Shows</vt:lpstr>
      </vt:variant>
      <vt:variant>
        <vt:i4>1</vt:i4>
      </vt:variant>
    </vt:vector>
  </HeadingPairs>
  <TitlesOfParts>
    <vt:vector size="6" baseType="lpstr">
      <vt:lpstr>Arial</vt:lpstr>
      <vt:lpstr>Trebuchet MS</vt:lpstr>
      <vt:lpstr>BCG Grid 16:9</vt:lpstr>
      <vt:lpstr>think-cell Slide</vt:lpstr>
      <vt:lpstr>New Customer Comparisons</vt:lpstr>
      <vt:lpstr>Format Guide Workshop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Scobee, Kyle</dc:creator>
  <cp:lastModifiedBy>Timothy Pitts</cp:lastModifiedBy>
  <cp:revision>9</cp:revision>
  <cp:lastPrinted>2016-04-06T18:59:25Z</cp:lastPrinted>
  <dcterms:created xsi:type="dcterms:W3CDTF">2025-04-28T17:07:03Z</dcterms:created>
  <dcterms:modified xsi:type="dcterms:W3CDTF">2025-12-05T14:37:19Z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2025-04-28T17:07:45Z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f2528353-4ad6-4815-81e0-0b5048609e13</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y fmtid="{D5CDD505-2E9C-101B-9397-08002B2CF9AE}" pid="15" name="ContentTypeId">
    <vt:lpwstr>0x0101008317974F467E37438C146AD78195A289</vt:lpwstr>
  </property>
</Properties>
</file>